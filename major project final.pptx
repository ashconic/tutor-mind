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480" r:id="rId2"/>
    <p:sldId id="593" r:id="rId3"/>
    <p:sldId id="482" r:id="rId4"/>
    <p:sldId id="483" r:id="rId5"/>
    <p:sldId id="594" r:id="rId6"/>
    <p:sldId id="575" r:id="rId7"/>
    <p:sldId id="576" r:id="rId8"/>
    <p:sldId id="595" r:id="rId9"/>
    <p:sldId id="598" r:id="rId10"/>
    <p:sldId id="597" r:id="rId11"/>
    <p:sldId id="577" r:id="rId12"/>
    <p:sldId id="599" r:id="rId13"/>
    <p:sldId id="600" r:id="rId14"/>
    <p:sldId id="601" r:id="rId15"/>
    <p:sldId id="578" r:id="rId16"/>
    <p:sldId id="57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9" autoAdjust="0"/>
    <p:restoredTop sz="94660" autoAdjust="0"/>
  </p:normalViewPr>
  <p:slideViewPr>
    <p:cSldViewPr>
      <p:cViewPr>
        <p:scale>
          <a:sx n="97" d="100"/>
          <a:sy n="97" d="100"/>
        </p:scale>
        <p:origin x="942" y="-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6C513-DC3F-4DFA-8728-DAB6AED74028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DC72D8-2D7B-4E65-8CB9-DEEA0A1D80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3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1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MAJOR PROJECT PHASE -1</a:t>
            </a:r>
          </a:p>
        </p:txBody>
      </p:sp>
      <p:sp>
        <p:nvSpPr>
          <p:cNvPr id="4" name="Freeform 16"/>
          <p:cNvSpPr>
            <a:spLocks noGrp="1"/>
          </p:cNvSpPr>
          <p:nvPr>
            <p:ph idx="1"/>
          </p:nvPr>
        </p:nvSpPr>
        <p:spPr bwMode="auto">
          <a:xfrm>
            <a:off x="685800" y="3581400"/>
            <a:ext cx="8229600" cy="1066800"/>
          </a:xfrm>
          <a:custGeom>
            <a:avLst/>
            <a:gdLst>
              <a:gd name="T0" fmla="*/ 0 w 4583"/>
              <a:gd name="T1" fmla="*/ 0 h 727"/>
              <a:gd name="T2" fmla="*/ 0 w 4583"/>
              <a:gd name="T3" fmla="*/ 2147483647 h 727"/>
              <a:gd name="T4" fmla="*/ 2147483647 w 4583"/>
              <a:gd name="T5" fmla="*/ 2147483647 h 727"/>
              <a:gd name="T6" fmla="*/ 2147483647 w 4583"/>
              <a:gd name="T7" fmla="*/ 0 h 727"/>
              <a:gd name="T8" fmla="*/ 0 w 4583"/>
              <a:gd name="T9" fmla="*/ 0 h 7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83"/>
              <a:gd name="T16" fmla="*/ 0 h 727"/>
              <a:gd name="T17" fmla="*/ 4583 w 4583"/>
              <a:gd name="T18" fmla="*/ 727 h 7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83" h="727">
                <a:moveTo>
                  <a:pt x="0" y="0"/>
                </a:moveTo>
                <a:lnTo>
                  <a:pt x="0" y="727"/>
                </a:lnTo>
                <a:lnTo>
                  <a:pt x="4583" y="727"/>
                </a:lnTo>
                <a:lnTo>
                  <a:pt x="4028" y="0"/>
                </a:lnTo>
                <a:lnTo>
                  <a:pt x="0" y="0"/>
                </a:lnTo>
                <a:close/>
              </a:path>
            </a:pathLst>
          </a:custGeom>
          <a:solidFill>
            <a:srgbClr val="F18B17">
              <a:alpha val="85097"/>
            </a:srgbClr>
          </a:solidFill>
          <a:ln w="9525">
            <a:noFill/>
            <a:miter lim="800000"/>
          </a:ln>
        </p:spPr>
        <p:txBody>
          <a:bodyPr/>
          <a:lstStyle/>
          <a:p>
            <a:pPr marL="0" indent="0" algn="ctr" eaLnBrk="1" hangingPunct="1">
              <a:buNone/>
            </a:pPr>
            <a:r>
              <a:rPr lang="en-IN" sz="3100" b="1" dirty="0">
                <a:solidFill>
                  <a:schemeClr val="bg1"/>
                </a:solidFill>
                <a:latin typeface="Museo 300" pitchFamily="50" charset="0"/>
                <a:ea typeface="Verdana" panose="020B0604030504040204" pitchFamily="34" charset="0"/>
                <a:cs typeface="Nirmala UI" panose="020B0502040204020203" pitchFamily="34" charset="0"/>
              </a:rPr>
              <a:t> Department of AI&amp;ML</a:t>
            </a:r>
          </a:p>
        </p:txBody>
      </p:sp>
      <p:sp>
        <p:nvSpPr>
          <p:cNvPr id="5" name="Freeform 16"/>
          <p:cNvSpPr/>
          <p:nvPr/>
        </p:nvSpPr>
        <p:spPr bwMode="auto">
          <a:xfrm>
            <a:off x="3068401" y="4648200"/>
            <a:ext cx="6072187" cy="1345474"/>
          </a:xfrm>
          <a:custGeom>
            <a:avLst/>
            <a:gdLst>
              <a:gd name="T0" fmla="*/ 0 w 4583"/>
              <a:gd name="T1" fmla="*/ 0 h 727"/>
              <a:gd name="T2" fmla="*/ 0 w 4583"/>
              <a:gd name="T3" fmla="*/ 2147483647 h 727"/>
              <a:gd name="T4" fmla="*/ 2147483647 w 4583"/>
              <a:gd name="T5" fmla="*/ 2147483647 h 727"/>
              <a:gd name="T6" fmla="*/ 2147483647 w 4583"/>
              <a:gd name="T7" fmla="*/ 0 h 727"/>
              <a:gd name="T8" fmla="*/ 0 w 4583"/>
              <a:gd name="T9" fmla="*/ 0 h 7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83"/>
              <a:gd name="T16" fmla="*/ 0 h 727"/>
              <a:gd name="T17" fmla="*/ 4583 w 4583"/>
              <a:gd name="T18" fmla="*/ 727 h 7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83" h="727">
                <a:moveTo>
                  <a:pt x="0" y="0"/>
                </a:moveTo>
                <a:lnTo>
                  <a:pt x="0" y="727"/>
                </a:lnTo>
                <a:lnTo>
                  <a:pt x="4583" y="727"/>
                </a:lnTo>
                <a:lnTo>
                  <a:pt x="4028" y="0"/>
                </a:lnTo>
                <a:lnTo>
                  <a:pt x="0" y="0"/>
                </a:lnTo>
                <a:close/>
              </a:path>
            </a:pathLst>
          </a:custGeom>
          <a:solidFill>
            <a:srgbClr val="F18B17">
              <a:alpha val="85097"/>
            </a:srgbClr>
          </a:solidFill>
          <a:ln w="9525">
            <a:noFill/>
            <a:miter lim="800000"/>
          </a:ln>
        </p:spPr>
        <p:txBody>
          <a:bodyPr/>
          <a:lstStyle/>
          <a:p>
            <a:pPr algn="ctr" eaLnBrk="1" hangingPunct="1"/>
            <a:r>
              <a:rPr lang="en-IN" sz="2000" b="1" dirty="0">
                <a:latin typeface="Museo 300" pitchFamily="50" charset="0"/>
              </a:rPr>
              <a:t>Under guidance of</a:t>
            </a:r>
          </a:p>
          <a:p>
            <a:pPr algn="ctr" eaLnBrk="1" hangingPunct="1"/>
            <a:r>
              <a:rPr lang="en-IN" sz="2000" b="1" dirty="0">
                <a:latin typeface="Museo 300" pitchFamily="50" charset="0"/>
              </a:rPr>
              <a:t>Prof Amit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5B42049-1109-D217-A944-4347E82F3E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19200"/>
            <a:ext cx="8229600" cy="471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 err="1"/>
              <a:t>MathLingo</a:t>
            </a:r>
            <a:r>
              <a:rPr lang="en-IN" sz="1600" b="1" dirty="0"/>
              <a:t>: Gamified AI Math Learning</a:t>
            </a:r>
          </a:p>
          <a:p>
            <a:r>
              <a:rPr lang="en-IN" sz="1600" b="1" dirty="0"/>
              <a:t>The Problem:</a:t>
            </a:r>
            <a:r>
              <a:rPr lang="en-IN" sz="1600" dirty="0"/>
              <a:t> Traditional math education often lacks personalization and fails to maintain student engagement through static teaching methods.</a:t>
            </a:r>
          </a:p>
          <a:p>
            <a:r>
              <a:rPr lang="en-IN" sz="1600" b="1" dirty="0"/>
              <a:t>The Solution:</a:t>
            </a:r>
            <a:r>
              <a:rPr lang="en-IN" sz="1600" dirty="0"/>
              <a:t> An AI-driven, web-based platform inspired by Duolingo that makes math interactive, adaptive, and gamified.</a:t>
            </a:r>
          </a:p>
          <a:p>
            <a:r>
              <a:rPr lang="en-IN" sz="1600" b="1" dirty="0"/>
              <a:t>Key Features:</a:t>
            </a:r>
            <a:endParaRPr lang="en-IN" sz="1600" dirty="0"/>
          </a:p>
          <a:p>
            <a:pPr lvl="1"/>
            <a:r>
              <a:rPr lang="en-IN" sz="1400" b="1" dirty="0"/>
              <a:t>Adaptive Learning Paths:</a:t>
            </a:r>
            <a:r>
              <a:rPr lang="en-IN" sz="1400" dirty="0"/>
              <a:t> Customized modules for Algebra, Geometry, Calculus, Statistics, and Arithmetic.</a:t>
            </a:r>
          </a:p>
          <a:p>
            <a:pPr lvl="1"/>
            <a:r>
              <a:rPr lang="en-IN" sz="1400" b="1" dirty="0"/>
              <a:t>AI Tutor:</a:t>
            </a:r>
            <a:r>
              <a:rPr lang="en-IN" sz="1400" dirty="0"/>
              <a:t> Real-time, AI-assisted guidance and explanations for complex problem-solving.</a:t>
            </a:r>
          </a:p>
          <a:p>
            <a:pPr lvl="1"/>
            <a:r>
              <a:rPr lang="en-IN" sz="1400" b="1" dirty="0"/>
              <a:t>Gamification Engine:</a:t>
            </a:r>
            <a:r>
              <a:rPr lang="en-IN" sz="1400" dirty="0"/>
              <a:t> Retention-driven features including XP, streaks, badges, levels, and progress tracking.</a:t>
            </a:r>
          </a:p>
          <a:p>
            <a:pPr lvl="1"/>
            <a:r>
              <a:rPr lang="en-IN" sz="1400" b="1" dirty="0"/>
              <a:t>Analytics Dashboard:</a:t>
            </a:r>
            <a:r>
              <a:rPr lang="en-IN" sz="1400" dirty="0"/>
              <a:t> Visual performance charts for monitoring learning milestones.</a:t>
            </a:r>
          </a:p>
          <a:p>
            <a:r>
              <a:rPr lang="en-IN" sz="1600" b="1" dirty="0"/>
              <a:t>Technical Stack:</a:t>
            </a:r>
            <a:endParaRPr lang="en-IN" sz="1600" dirty="0"/>
          </a:p>
          <a:p>
            <a:pPr lvl="1"/>
            <a:r>
              <a:rPr lang="en-IN" sz="1400" b="1" dirty="0"/>
              <a:t>Frontend:</a:t>
            </a:r>
            <a:r>
              <a:rPr lang="en-IN" sz="1400" dirty="0"/>
              <a:t> React.js, TypeScript, Material-UI.</a:t>
            </a:r>
          </a:p>
          <a:p>
            <a:pPr lvl="1"/>
            <a:r>
              <a:rPr lang="en-IN" sz="1400" b="1" dirty="0"/>
              <a:t>Backend:</a:t>
            </a:r>
            <a:r>
              <a:rPr lang="en-IN" sz="1400" dirty="0"/>
              <a:t> Node.js, Express.js.</a:t>
            </a:r>
          </a:p>
          <a:p>
            <a:r>
              <a:rPr lang="en-IN" sz="1600" b="1" dirty="0"/>
              <a:t>Impact:</a:t>
            </a:r>
            <a:r>
              <a:rPr lang="en-IN" sz="1600" dirty="0"/>
              <a:t> Enhances learning accessibility and student motivation through modern digital methodologies.</a:t>
            </a:r>
          </a:p>
        </p:txBody>
      </p:sp>
    </p:spTree>
    <p:extLst>
      <p:ext uri="{BB962C8B-B14F-4D97-AF65-F5344CB8AC3E}">
        <p14:creationId xmlns:p14="http://schemas.microsoft.com/office/powerpoint/2010/main" val="1462715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53B073-25B4-C850-64F4-A8C972C732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535" y="1761829"/>
            <a:ext cx="8229600" cy="413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To keep your slide visually balanced and professional, I have distilled those challenges and solutions into four clear categories. This structure allows the audience to grasp the "Problem vs. Solution" narrative quickly.</a:t>
            </a:r>
          </a:p>
          <a:p>
            <a:r>
              <a:rPr lang="en-US" sz="1400" b="1" dirty="0"/>
              <a:t>Problem Statement &amp; Solution: </a:t>
            </a:r>
            <a:r>
              <a:rPr lang="en-US" sz="1400" b="1" dirty="0" err="1"/>
              <a:t>MathLingo</a:t>
            </a:r>
            <a:endParaRPr lang="en-US" sz="1400" b="1" dirty="0"/>
          </a:p>
          <a:p>
            <a:r>
              <a:rPr lang="en-US" sz="1400" b="1" dirty="0"/>
              <a:t>Current Challenges in Math Education</a:t>
            </a:r>
            <a:endParaRPr lang="en-US" sz="1400" dirty="0"/>
          </a:p>
          <a:p>
            <a:pPr lvl="1"/>
            <a:r>
              <a:rPr lang="en-US" sz="1200" b="1" dirty="0"/>
              <a:t>Static Content:</a:t>
            </a:r>
            <a:r>
              <a:rPr lang="en-US" sz="1200" dirty="0"/>
              <a:t> Traditional systems fail to adapt to individual learning paces and preferences.</a:t>
            </a:r>
          </a:p>
          <a:p>
            <a:pPr lvl="1"/>
            <a:r>
              <a:rPr lang="en-US" sz="1200" b="1" dirty="0"/>
              <a:t>Low Engagement:</a:t>
            </a:r>
            <a:r>
              <a:rPr lang="en-US" sz="1200" dirty="0"/>
              <a:t> Lack of motivational elements leads to loss of interest and inconsistent study habits.</a:t>
            </a:r>
          </a:p>
          <a:p>
            <a:pPr lvl="1"/>
            <a:r>
              <a:rPr lang="en-US" sz="1200" b="1" dirty="0"/>
              <a:t>Limited Support:</a:t>
            </a:r>
            <a:r>
              <a:rPr lang="en-US" sz="1200" dirty="0"/>
              <a:t> Students lack immediate, real-time feedback when solving complex problems.</a:t>
            </a:r>
          </a:p>
          <a:p>
            <a:r>
              <a:rPr lang="en-US" sz="1400" b="1" dirty="0"/>
              <a:t>The </a:t>
            </a:r>
            <a:r>
              <a:rPr lang="en-US" sz="1400" b="1" dirty="0" err="1"/>
              <a:t>MathLingo</a:t>
            </a:r>
            <a:r>
              <a:rPr lang="en-US" sz="1400" b="1" dirty="0"/>
              <a:t> Approach</a:t>
            </a:r>
            <a:endParaRPr lang="en-US" sz="1400" dirty="0"/>
          </a:p>
          <a:p>
            <a:pPr lvl="1"/>
            <a:r>
              <a:rPr lang="en-US" sz="1200" b="1" dirty="0"/>
              <a:t>AI-Powered Tutoring:</a:t>
            </a:r>
            <a:r>
              <a:rPr lang="en-US" sz="1200" dirty="0"/>
              <a:t> Dynamic, real-time assistance to clarify doubts instantly without external resources.</a:t>
            </a:r>
          </a:p>
          <a:p>
            <a:pPr lvl="1"/>
            <a:r>
              <a:rPr lang="en-US" sz="1200" b="1" dirty="0"/>
              <a:t>Personalized Learning Paths:</a:t>
            </a:r>
            <a:r>
              <a:rPr lang="en-US" sz="1200" dirty="0"/>
              <a:t> Custom-tailored modules (Algebra, Calculus, etc.) based on user skill levels.</a:t>
            </a:r>
          </a:p>
          <a:p>
            <a:r>
              <a:rPr lang="en-US" sz="1400" b="1" dirty="0"/>
              <a:t>Gamification &amp; Engagement</a:t>
            </a:r>
            <a:endParaRPr lang="en-US" sz="1400" dirty="0"/>
          </a:p>
          <a:p>
            <a:pPr lvl="1"/>
            <a:r>
              <a:rPr lang="en-US" sz="1200" b="1" dirty="0"/>
              <a:t>Retention Mechanics:</a:t>
            </a:r>
            <a:r>
              <a:rPr lang="en-US" sz="1200" dirty="0"/>
              <a:t> Integration of streaks, rewards, levels, and badges to ensure long-term consistency.</a:t>
            </a:r>
          </a:p>
          <a:p>
            <a:pPr lvl="1"/>
            <a:r>
              <a:rPr lang="en-US" sz="1200" b="1" dirty="0"/>
              <a:t>Interactive Learning:</a:t>
            </a:r>
            <a:r>
              <a:rPr lang="en-US" sz="1200" dirty="0"/>
              <a:t> Moving from passive reading to active participation through quizzes and lessons.</a:t>
            </a:r>
          </a:p>
          <a:p>
            <a:r>
              <a:rPr lang="en-US" sz="1400" b="1" dirty="0"/>
              <a:t>Analytics &amp; Accessibility</a:t>
            </a:r>
            <a:endParaRPr lang="en-US" sz="1400" dirty="0"/>
          </a:p>
          <a:p>
            <a:pPr lvl="1"/>
            <a:r>
              <a:rPr lang="en-US" sz="1200" b="1" dirty="0"/>
              <a:t>Progress Tracking:</a:t>
            </a:r>
            <a:r>
              <a:rPr lang="en-US" sz="1200" dirty="0"/>
              <a:t> Comprehensive dashboards and real-time analytics to monitor learning growth.</a:t>
            </a:r>
          </a:p>
          <a:p>
            <a:pPr lvl="1"/>
            <a:r>
              <a:rPr lang="en-US" sz="1200" b="1" dirty="0"/>
              <a:t>Modern Interface:</a:t>
            </a:r>
            <a:r>
              <a:rPr lang="en-US" sz="1200" dirty="0"/>
              <a:t> A responsive, user-friendly web platform built for scalable digital education.</a:t>
            </a:r>
            <a:endParaRPr lang="en-US" sz="1200" dirty="0"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92EDE2-A4F7-4F61-8D7D-96E643A9B4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948" y="1260059"/>
            <a:ext cx="8229600" cy="4475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To ensure these points are "slide-ready," I’ve condensed the text into high-impact bullets that highlight the transition from traditional problems to your modern solution.</a:t>
            </a:r>
          </a:p>
          <a:p>
            <a:r>
              <a:rPr lang="en-US" sz="1400" b="1" dirty="0" err="1"/>
              <a:t>MathLingo</a:t>
            </a:r>
            <a:r>
              <a:rPr lang="en-US" sz="1400" b="1" dirty="0"/>
              <a:t>: Revolutionizing Math Education</a:t>
            </a:r>
          </a:p>
          <a:p>
            <a:r>
              <a:rPr lang="en-US" sz="1400" b="1" dirty="0"/>
              <a:t>The Problem: Traditional Limitations</a:t>
            </a:r>
            <a:endParaRPr lang="en-US" sz="1400" dirty="0"/>
          </a:p>
          <a:p>
            <a:pPr lvl="1"/>
            <a:r>
              <a:rPr lang="en-US" sz="1200" b="1" dirty="0"/>
              <a:t>One-Size-Fits-All:</a:t>
            </a:r>
            <a:r>
              <a:rPr lang="en-US" sz="1200" dirty="0"/>
              <a:t> Static classroom methods struggle to cater to varying student speeds and capabilities.</a:t>
            </a:r>
          </a:p>
          <a:p>
            <a:pPr lvl="1"/>
            <a:r>
              <a:rPr lang="en-US" sz="1200" b="1" dirty="0"/>
              <a:t>The "Math Barrier":</a:t>
            </a:r>
            <a:r>
              <a:rPr lang="en-US" sz="1200" dirty="0"/>
              <a:t> Abstract concepts and repetitive practice often lead to a loss of student motivation.</a:t>
            </a:r>
          </a:p>
          <a:p>
            <a:pPr lvl="1"/>
            <a:r>
              <a:rPr lang="en-US" sz="1200" b="1" dirty="0"/>
              <a:t>Feedback Gap:</a:t>
            </a:r>
            <a:r>
              <a:rPr lang="en-US" sz="1200" dirty="0"/>
              <a:t> Lack of instant guidance makes it difficult for students to understand and correct mistakes in real-time.</a:t>
            </a:r>
          </a:p>
          <a:p>
            <a:r>
              <a:rPr lang="en-US" sz="1400" b="1" dirty="0"/>
              <a:t>The Solution: AI &amp; Gamification</a:t>
            </a:r>
            <a:endParaRPr lang="en-US" sz="1400" dirty="0"/>
          </a:p>
          <a:p>
            <a:pPr lvl="1"/>
            <a:r>
              <a:rPr lang="en-US" sz="1200" b="1" dirty="0"/>
              <a:t>Inspiration:</a:t>
            </a:r>
            <a:r>
              <a:rPr lang="en-US" sz="1200" dirty="0"/>
              <a:t> Adopting the successful reward-based models of modern apps (like Duolingo).</a:t>
            </a:r>
          </a:p>
          <a:p>
            <a:pPr lvl="1"/>
            <a:r>
              <a:rPr lang="en-US" sz="1200" b="1" dirty="0"/>
              <a:t>Adaptive Learning:</a:t>
            </a:r>
            <a:r>
              <a:rPr lang="en-US" sz="1200" dirty="0"/>
              <a:t> AI-driven paths that customize content based on individual user skill levels.</a:t>
            </a:r>
          </a:p>
          <a:p>
            <a:pPr lvl="1"/>
            <a:r>
              <a:rPr lang="en-US" sz="1200" b="1" dirty="0"/>
              <a:t>Instant Support:</a:t>
            </a:r>
            <a:r>
              <a:rPr lang="en-US" sz="1200" dirty="0"/>
              <a:t> AI Tutoring provides immediate feedback and interactive concept explanations.</a:t>
            </a:r>
          </a:p>
          <a:p>
            <a:r>
              <a:rPr lang="en-US" sz="1400" b="1" dirty="0"/>
              <a:t>Key Platform Features</a:t>
            </a:r>
            <a:endParaRPr lang="en-US" sz="1400" dirty="0"/>
          </a:p>
          <a:p>
            <a:pPr lvl="1"/>
            <a:r>
              <a:rPr lang="en-US" sz="1200" b="1" dirty="0"/>
              <a:t>Engagement Tools:</a:t>
            </a:r>
            <a:r>
              <a:rPr lang="en-US" sz="1200" dirty="0"/>
              <a:t> Streaks, achievements, and badges to promote long-term learning consistency.</a:t>
            </a:r>
          </a:p>
          <a:p>
            <a:pPr lvl="1"/>
            <a:r>
              <a:rPr lang="en-US" sz="1200" b="1" dirty="0"/>
              <a:t>Interactive Content:</a:t>
            </a:r>
            <a:r>
              <a:rPr lang="en-US" sz="1200" dirty="0"/>
              <a:t> Engaging lessons and quizzes designed to simplify complex problem-solving.</a:t>
            </a:r>
          </a:p>
          <a:p>
            <a:pPr lvl="1"/>
            <a:r>
              <a:rPr lang="en-US" sz="1200" b="1" dirty="0"/>
              <a:t>Progress Insights:</a:t>
            </a:r>
            <a:r>
              <a:rPr lang="en-US" sz="1200" dirty="0"/>
              <a:t> Comprehensive dashboards to track performance and milestones.</a:t>
            </a:r>
          </a:p>
          <a:p>
            <a:r>
              <a:rPr lang="en-US" sz="1400" b="1" dirty="0"/>
              <a:t>Project Impact &amp; Goals</a:t>
            </a:r>
            <a:endParaRPr lang="en-US" sz="1400" dirty="0"/>
          </a:p>
          <a:p>
            <a:pPr lvl="1"/>
            <a:r>
              <a:rPr lang="en-US" sz="1200" b="1" dirty="0"/>
              <a:t>Self-Paced Learning:</a:t>
            </a:r>
            <a:r>
              <a:rPr lang="en-US" sz="1200" dirty="0"/>
              <a:t> Empowering students to master mathematics in a stress-free digital environment.</a:t>
            </a:r>
          </a:p>
          <a:p>
            <a:pPr lvl="1"/>
            <a:r>
              <a:rPr lang="en-US" sz="1200" b="1" dirty="0"/>
              <a:t>Accessibility:</a:t>
            </a:r>
            <a:r>
              <a:rPr lang="en-US" sz="1200" dirty="0"/>
              <a:t> A responsive web-based platform accessible across all modern devices.</a:t>
            </a:r>
          </a:p>
          <a:p>
            <a:pPr lvl="1"/>
            <a:r>
              <a:rPr lang="en-US" sz="1200" b="1" dirty="0"/>
              <a:t>Bridging the Gap:</a:t>
            </a:r>
            <a:r>
              <a:rPr lang="en-US" sz="1200" dirty="0"/>
              <a:t> Merging traditional educational methodologies with intelligent, tech-driven solutions.</a:t>
            </a:r>
            <a:endParaRPr lang="en-US" sz="1200" dirty="0"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1A7612-F7D8-17D3-7D80-0DD2908271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47800"/>
            <a:ext cx="8229600" cy="4450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Motivation: Why </a:t>
            </a:r>
            <a:r>
              <a:rPr lang="en-US" sz="1800" b="1" dirty="0" err="1"/>
              <a:t>MathLingo</a:t>
            </a:r>
            <a:r>
              <a:rPr lang="en-US" sz="1800" b="1" dirty="0"/>
              <a:t> Matters</a:t>
            </a:r>
          </a:p>
          <a:p>
            <a:r>
              <a:rPr lang="en-US" sz="1800" b="1" dirty="0"/>
              <a:t>Eliminating "Math Anxiety"</a:t>
            </a:r>
            <a:endParaRPr lang="en-US" sz="1800" dirty="0"/>
          </a:p>
          <a:p>
            <a:pPr lvl="1"/>
            <a:r>
              <a:rPr lang="en-US" sz="1600" dirty="0"/>
              <a:t>Replaces the fear of failure with a "fail-forward" gamified environment.</a:t>
            </a:r>
          </a:p>
          <a:p>
            <a:pPr lvl="1"/>
            <a:r>
              <a:rPr lang="en-US" sz="1600" dirty="0"/>
              <a:t>Provides a safe, judgment-free space for students to master abstract concepts.</a:t>
            </a:r>
          </a:p>
          <a:p>
            <a:r>
              <a:rPr lang="en-US" sz="1800" b="1" dirty="0"/>
              <a:t>Democratizing Personal Tutoring</a:t>
            </a:r>
            <a:endParaRPr lang="en-US" sz="1800" dirty="0"/>
          </a:p>
          <a:p>
            <a:pPr lvl="1"/>
            <a:r>
              <a:rPr lang="en-US" sz="1600" dirty="0"/>
              <a:t>Scales expert-level guidance via AI, making 1-on-1 support accessible to everyone.</a:t>
            </a:r>
          </a:p>
          <a:p>
            <a:pPr lvl="1"/>
            <a:r>
              <a:rPr lang="en-US" sz="1600" dirty="0"/>
              <a:t>Removes the "stuck" moments that cause students to lose interest in STEM.</a:t>
            </a:r>
          </a:p>
          <a:p>
            <a:r>
              <a:rPr lang="en-US" sz="1800" b="1" dirty="0"/>
              <a:t>Leveraging Positive Psychology</a:t>
            </a:r>
            <a:endParaRPr lang="en-US" sz="1800" dirty="0"/>
          </a:p>
          <a:p>
            <a:pPr lvl="1"/>
            <a:r>
              <a:rPr lang="en-US" sz="1600" dirty="0"/>
              <a:t>Redirects digital habits (streaks/rewards) toward productive academic growth.</a:t>
            </a:r>
          </a:p>
          <a:p>
            <a:pPr lvl="1"/>
            <a:r>
              <a:rPr lang="en-US" sz="1600" dirty="0"/>
              <a:t>Keeps students in the "Flow State" by balancing challenge with real-time support.</a:t>
            </a:r>
          </a:p>
          <a:p>
            <a:r>
              <a:rPr lang="en-US" sz="1800" b="1" dirty="0"/>
              <a:t>Future-Proofing Education</a:t>
            </a:r>
            <a:endParaRPr lang="en-US" sz="1800" dirty="0"/>
          </a:p>
          <a:p>
            <a:pPr lvl="1"/>
            <a:r>
              <a:rPr lang="en-US" sz="1600" dirty="0"/>
              <a:t>Bridges the gap between rigid traditional methods and the needs of digital-native learners.</a:t>
            </a:r>
          </a:p>
          <a:p>
            <a:pPr lvl="1"/>
            <a:r>
              <a:rPr lang="en-US" sz="1600" dirty="0"/>
              <a:t>Empowers self-paced mastery, ensuring no student is left behind or held back.</a:t>
            </a:r>
            <a:endParaRPr lang="en-US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6368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AE40F6-B43A-BC44-F89D-DAAC531C47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161" y="1066800"/>
            <a:ext cx="8229600" cy="4942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To create a strong "Gap Analysis" slide, these points highlight the limitations of current platforms compared to what </a:t>
            </a:r>
            <a:r>
              <a:rPr lang="en-US" sz="1600" b="1" dirty="0" err="1"/>
              <a:t>MathLingo</a:t>
            </a:r>
            <a:r>
              <a:rPr lang="en-US" sz="1600" dirty="0"/>
              <a:t> offers.</a:t>
            </a:r>
          </a:p>
          <a:p>
            <a:r>
              <a:rPr lang="en-US" sz="1600" b="1" dirty="0"/>
              <a:t>The Gap: Limitations of Existing Systems</a:t>
            </a:r>
          </a:p>
          <a:p>
            <a:r>
              <a:rPr lang="en-US" sz="1600" b="1" dirty="0"/>
              <a:t>Lack of Personalization</a:t>
            </a:r>
            <a:endParaRPr lang="en-US" sz="1600" dirty="0"/>
          </a:p>
          <a:p>
            <a:pPr lvl="1"/>
            <a:r>
              <a:rPr lang="en-US" sz="1400" dirty="0"/>
              <a:t>"One-size-fits-all" content ignores individual learning speeds and styles.</a:t>
            </a:r>
          </a:p>
          <a:p>
            <a:pPr lvl="1"/>
            <a:r>
              <a:rPr lang="en-US" sz="1400" dirty="0"/>
              <a:t>Fails to adapt difficulty levels based on real-time student performance.</a:t>
            </a:r>
          </a:p>
          <a:p>
            <a:r>
              <a:rPr lang="en-US" sz="1600" b="1" dirty="0"/>
              <a:t>Low Engagement &amp; Retention</a:t>
            </a:r>
            <a:endParaRPr lang="en-US" sz="1600" dirty="0"/>
          </a:p>
          <a:p>
            <a:pPr lvl="1"/>
            <a:r>
              <a:rPr lang="en-US" sz="1400" dirty="0"/>
              <a:t>Minimal gamification leads to loss of interest and inconsistent study habits.</a:t>
            </a:r>
          </a:p>
          <a:p>
            <a:pPr lvl="1"/>
            <a:r>
              <a:rPr lang="en-US" sz="1400" dirty="0"/>
              <a:t>Repetitive exercises without reward mechanisms reduce long-term motivation.</a:t>
            </a:r>
          </a:p>
          <a:p>
            <a:r>
              <a:rPr lang="en-US" sz="1600" b="1" dirty="0"/>
              <a:t>Limited AI Functionality</a:t>
            </a:r>
            <a:endParaRPr lang="en-US" sz="1600" dirty="0"/>
          </a:p>
          <a:p>
            <a:pPr lvl="1"/>
            <a:r>
              <a:rPr lang="en-US" sz="1400" dirty="0"/>
              <a:t>Current tools often focus on </a:t>
            </a:r>
            <a:r>
              <a:rPr lang="en-US" sz="1400" i="1" dirty="0"/>
              <a:t>solving</a:t>
            </a:r>
            <a:r>
              <a:rPr lang="en-US" sz="1400" dirty="0"/>
              <a:t> equations rather than </a:t>
            </a:r>
            <a:r>
              <a:rPr lang="en-US" sz="1400" i="1" dirty="0"/>
              <a:t>teaching</a:t>
            </a:r>
            <a:r>
              <a:rPr lang="en-US" sz="1400" dirty="0"/>
              <a:t> concepts.</a:t>
            </a:r>
          </a:p>
          <a:p>
            <a:pPr lvl="1"/>
            <a:r>
              <a:rPr lang="en-US" sz="1400" dirty="0"/>
              <a:t>Missing dynamic, AI-driven guidance for conceptual understanding.</a:t>
            </a:r>
          </a:p>
          <a:p>
            <a:r>
              <a:rPr lang="en-US" sz="1600" b="1" dirty="0"/>
              <a:t>Inadequate Progress Monitoring</a:t>
            </a:r>
            <a:endParaRPr lang="en-US" sz="1600" dirty="0"/>
          </a:p>
          <a:p>
            <a:pPr lvl="1"/>
            <a:r>
              <a:rPr lang="en-US" sz="1400" dirty="0"/>
              <a:t>Lack of integrated analytics and visual dashboards for tracking growth.</a:t>
            </a:r>
          </a:p>
          <a:p>
            <a:pPr lvl="1"/>
            <a:r>
              <a:rPr lang="en-US" sz="1400" dirty="0"/>
              <a:t>Difficult for students to identify specific areas that need improvement.</a:t>
            </a:r>
          </a:p>
          <a:p>
            <a:r>
              <a:rPr lang="en-US" sz="1600" b="1" dirty="0"/>
              <a:t>Technical Constraints</a:t>
            </a:r>
            <a:endParaRPr lang="en-US" sz="1600" dirty="0"/>
          </a:p>
          <a:p>
            <a:pPr lvl="1"/>
            <a:r>
              <a:rPr lang="en-US" sz="1400" dirty="0"/>
              <a:t>Poor optimization for modern, responsive mobile and web experiences.</a:t>
            </a:r>
          </a:p>
          <a:p>
            <a:pPr lvl="1"/>
            <a:r>
              <a:rPr lang="en-US" sz="1400" dirty="0"/>
              <a:t>Disjointed user interfaces that hinder smooth accessibility across devices.</a:t>
            </a:r>
          </a:p>
        </p:txBody>
      </p:sp>
    </p:spTree>
    <p:extLst>
      <p:ext uri="{BB962C8B-B14F-4D97-AF65-F5344CB8AC3E}">
        <p14:creationId xmlns:p14="http://schemas.microsoft.com/office/powerpoint/2010/main" val="2419098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E76ECE-7DDB-7362-C447-62776A83B9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524000"/>
            <a:ext cx="822960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 err="1"/>
              <a:t>MathLingo</a:t>
            </a:r>
            <a:r>
              <a:rPr lang="en-US" sz="1400" b="1" dirty="0"/>
              <a:t>: Platform Overview &amp; Architecture</a:t>
            </a:r>
          </a:p>
          <a:p>
            <a:r>
              <a:rPr lang="en-US" sz="1400" b="1" dirty="0"/>
              <a:t>Core Concept &amp; Vision</a:t>
            </a:r>
            <a:endParaRPr lang="en-US" sz="1400" dirty="0"/>
          </a:p>
          <a:p>
            <a:pPr lvl="1"/>
            <a:r>
              <a:rPr lang="en-US" sz="1200" b="1" dirty="0"/>
              <a:t>Gamified AI Learning:</a:t>
            </a:r>
            <a:r>
              <a:rPr lang="en-US" sz="1200" dirty="0"/>
              <a:t> A web-based ecosystem merging AI with game mechanics to boost math engagement.</a:t>
            </a:r>
          </a:p>
          <a:p>
            <a:pPr lvl="1"/>
            <a:r>
              <a:rPr lang="en-US" sz="1200" b="1" dirty="0"/>
              <a:t>Self-Paced Education:</a:t>
            </a:r>
            <a:r>
              <a:rPr lang="en-US" sz="1200" dirty="0"/>
              <a:t> Empowering students to master complex concepts without the pressure of traditional timelines.</a:t>
            </a:r>
          </a:p>
          <a:p>
            <a:r>
              <a:rPr lang="en-US" sz="1400" b="1" dirty="0"/>
              <a:t>Personalized User Experience</a:t>
            </a:r>
            <a:endParaRPr lang="en-US" sz="1400" dirty="0"/>
          </a:p>
          <a:p>
            <a:pPr lvl="1"/>
            <a:r>
              <a:rPr lang="en-US" sz="1200" b="1" dirty="0"/>
              <a:t>Custom Learning Paths:</a:t>
            </a:r>
            <a:r>
              <a:rPr lang="en-US" sz="1200" dirty="0"/>
              <a:t> Tailored curriculum generation based on user preferences and academic needs.</a:t>
            </a:r>
          </a:p>
          <a:p>
            <a:pPr lvl="1"/>
            <a:r>
              <a:rPr lang="en-US" sz="1200" b="1" dirty="0"/>
              <a:t>Gamification Suite:</a:t>
            </a:r>
            <a:r>
              <a:rPr lang="en-US" sz="1200" dirty="0"/>
              <a:t> Retention-focused features including </a:t>
            </a:r>
            <a:r>
              <a:rPr lang="en-US" sz="1200" b="1" dirty="0"/>
              <a:t>XP points, streaks, achievement badges,</a:t>
            </a:r>
            <a:r>
              <a:rPr lang="en-US" sz="1200" dirty="0"/>
              <a:t> and </a:t>
            </a:r>
            <a:r>
              <a:rPr lang="en-US" sz="1200" b="1" dirty="0"/>
              <a:t>leveling systems.</a:t>
            </a:r>
            <a:endParaRPr lang="en-US" sz="1200" dirty="0"/>
          </a:p>
          <a:p>
            <a:pPr lvl="1"/>
            <a:r>
              <a:rPr lang="en-US" sz="1200" b="1" dirty="0"/>
              <a:t>Interactive Content:</a:t>
            </a:r>
            <a:r>
              <a:rPr lang="en-US" sz="1200" dirty="0"/>
              <a:t> Engaging lessons and quizzes designed to transform passive study into active practice.</a:t>
            </a:r>
          </a:p>
          <a:p>
            <a:r>
              <a:rPr lang="en-US" sz="1400" b="1" dirty="0"/>
              <a:t>The AI &amp; Analytics Edge</a:t>
            </a:r>
            <a:endParaRPr lang="en-US" sz="1400" dirty="0"/>
          </a:p>
          <a:p>
            <a:pPr lvl="1"/>
            <a:r>
              <a:rPr lang="en-US" sz="1200" b="1" dirty="0"/>
              <a:t>AI Tutor Module:</a:t>
            </a:r>
            <a:r>
              <a:rPr lang="en-US" sz="1200" dirty="0"/>
              <a:t> Conversational guidance providing real-time conceptual explanations and doubt clarification.</a:t>
            </a:r>
          </a:p>
          <a:p>
            <a:pPr lvl="1"/>
            <a:r>
              <a:rPr lang="en-US" sz="1200" b="1" dirty="0"/>
              <a:t>Analytical Dashboards:</a:t>
            </a:r>
            <a:r>
              <a:rPr lang="en-US" sz="1200" dirty="0"/>
              <a:t> Visual data on study time, topic-wise performance, and lesson completion statistics.</a:t>
            </a:r>
          </a:p>
          <a:p>
            <a:r>
              <a:rPr lang="en-US" sz="1400" b="1" dirty="0"/>
              <a:t>Technical Foundation &amp; Scalability</a:t>
            </a:r>
            <a:endParaRPr lang="en-US" sz="1400" dirty="0"/>
          </a:p>
          <a:p>
            <a:pPr lvl="1"/>
            <a:r>
              <a:rPr lang="en-US" sz="1200" b="1" dirty="0"/>
              <a:t>Modern Stack:</a:t>
            </a:r>
            <a:r>
              <a:rPr lang="en-US" sz="1200" dirty="0"/>
              <a:t> Built using </a:t>
            </a:r>
            <a:r>
              <a:rPr lang="en-US" sz="1200" b="1" dirty="0"/>
              <a:t>React.js, TypeScript, Material-UI,</a:t>
            </a:r>
            <a:r>
              <a:rPr lang="en-US" sz="1200" dirty="0"/>
              <a:t> and </a:t>
            </a:r>
            <a:r>
              <a:rPr lang="en-US" sz="1200" b="1" dirty="0"/>
              <a:t>Node.js/Express.js.</a:t>
            </a:r>
            <a:endParaRPr lang="en-US" sz="1200" dirty="0"/>
          </a:p>
          <a:p>
            <a:pPr lvl="1"/>
            <a:r>
              <a:rPr lang="en-US" sz="1200" b="1" dirty="0"/>
              <a:t>Modular Architecture:</a:t>
            </a:r>
            <a:r>
              <a:rPr lang="en-US" sz="1200" dirty="0"/>
              <a:t> Designed for future-ready features like </a:t>
            </a:r>
            <a:r>
              <a:rPr lang="en-US" sz="1200" b="1" dirty="0"/>
              <a:t>voice tutoring, cloud integration,</a:t>
            </a:r>
            <a:r>
              <a:rPr lang="en-US" sz="1200" dirty="0"/>
              <a:t> and </a:t>
            </a:r>
            <a:r>
              <a:rPr lang="en-US" sz="1200" b="1" dirty="0"/>
              <a:t>multiplayer learning.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19098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0420412"/>
              </p:ext>
            </p:extLst>
          </p:nvPr>
        </p:nvGraphicFramePr>
        <p:xfrm>
          <a:off x="152400" y="1600200"/>
          <a:ext cx="8991600" cy="480536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FUTURE SCOP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Deep Learning for Handwritten Mathematical Expression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CNN-based image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 accuracy in symbol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Struggles with complex equations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Improve recognition using hybrid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7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Intelligent Tutoring Systems using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AI-based adaptive learning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Personalized learning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Requires large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Integrate advanced AI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7278">
                <a:tc>
                  <a:txBody>
                    <a:bodyPr/>
                    <a:lstStyle/>
                    <a:p>
                      <a:r>
                        <a:rPr lang="en-IN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Neuro-Symbolic AI for Mathematical Reasoning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Combination of neural networks and symbolic reasoning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Improves logical reasoning 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Computational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483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347495"/>
              </p:ext>
            </p:extLst>
          </p:nvPr>
        </p:nvGraphicFramePr>
        <p:xfrm>
          <a:off x="152400" y="1600200"/>
          <a:ext cx="8991600" cy="4602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FUTURE SCOP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1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Handwritten Math Recognition using Deep CNN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Deep CNN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Better recognition of handwritten symbols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 dataset diversity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 larger datasets for 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1285">
                <a:tc>
                  <a:txBody>
                    <a:bodyPr/>
                    <a:lstStyle/>
                    <a:p>
                      <a:r>
                        <a:rPr lang="en-IN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AI-based Personalized Learning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Machine learning algorithms for student </a:t>
                      </a:r>
                      <a:r>
                        <a:rPr lang="en-GB" dirty="0" err="1"/>
                        <a:t>modeling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Adaptive learning paths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Privacy concerns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Integrate privacy-preserving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1285">
                <a:tc>
                  <a:txBody>
                    <a:bodyPr/>
                    <a:lstStyle/>
                    <a:p>
                      <a:r>
                        <a:rPr lang="en-IN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Federated Learning for Privacy-Preserving 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Distributed model training across devices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Protects user data 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Communication 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Optimize federated algorithms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783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2175689"/>
              </p:ext>
            </p:extLst>
          </p:nvPr>
        </p:nvGraphicFramePr>
        <p:xfrm>
          <a:off x="152400" y="1600200"/>
          <a:ext cx="8991600" cy="4602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FUTURE SCOP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1285">
                <a:tc>
                  <a:txBody>
                    <a:bodyPr/>
                    <a:lstStyle/>
                    <a:p>
                      <a:r>
                        <a:rPr lang="en-IN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Federated Learning in Education Systems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Collaborative distributed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privacy and 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Network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Improve communication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1285"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Multilingual AI Tutoring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NLP models supporting multiple languages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Improves accessibility for regional students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 language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Expand multilingual datasets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1285"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Neuro-Federated Learning for Smart Education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Integration of neural networks and federated learning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Privacy-preserving collaborative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Implementation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Optimize models for mobile devices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480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6B50D4C-0A8B-7C72-D656-D9BE9B774F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143001"/>
            <a:ext cx="8229600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400" b="1" dirty="0" err="1"/>
              <a:t>MathLingo</a:t>
            </a:r>
            <a:r>
              <a:rPr lang="en-IN" sz="1400" b="1" dirty="0"/>
              <a:t> Development Phases</a:t>
            </a:r>
          </a:p>
          <a:p>
            <a:r>
              <a:rPr lang="en-IN" sz="1400" b="1" dirty="0"/>
              <a:t>Phase 1: Requirement Analysis &amp; Framework Design</a:t>
            </a:r>
            <a:endParaRPr lang="en-IN" sz="1400" dirty="0"/>
          </a:p>
          <a:p>
            <a:pPr lvl="1"/>
            <a:r>
              <a:rPr lang="en-IN" sz="1200" b="1" dirty="0"/>
              <a:t>Pedagogical Research:</a:t>
            </a:r>
            <a:r>
              <a:rPr lang="en-IN" sz="1200" dirty="0"/>
              <a:t> Identifying core mathematical pain points (Algebra, Calculus, etc.) to define adaptive learning logic.</a:t>
            </a:r>
          </a:p>
          <a:p>
            <a:pPr lvl="1"/>
            <a:r>
              <a:rPr lang="en-IN" sz="1200" b="1" dirty="0"/>
              <a:t>Gamification Architecture:</a:t>
            </a:r>
            <a:r>
              <a:rPr lang="en-IN" sz="1200" dirty="0"/>
              <a:t> Defining the XP logic, streak triggers, and reward thresholds (e.g., badges for 7-day consistency).</a:t>
            </a:r>
          </a:p>
          <a:p>
            <a:pPr lvl="1"/>
            <a:r>
              <a:rPr lang="en-IN" sz="1200" b="1" dirty="0"/>
              <a:t>Technical Selection:</a:t>
            </a:r>
            <a:r>
              <a:rPr lang="en-IN" sz="1200" dirty="0"/>
              <a:t> Finalizing the </a:t>
            </a:r>
            <a:r>
              <a:rPr lang="en-IN" sz="1200" b="1" dirty="0"/>
              <a:t>MERN</a:t>
            </a:r>
            <a:r>
              <a:rPr lang="en-IN" sz="1200" dirty="0"/>
              <a:t> stack (React/Node) for real-time responsiveness and scalability.</a:t>
            </a:r>
          </a:p>
          <a:p>
            <a:r>
              <a:rPr lang="en-IN" sz="1400" b="1" dirty="0"/>
              <a:t>Phase 2: System Design &amp; Prototyping</a:t>
            </a:r>
            <a:endParaRPr lang="en-IN" sz="1400" dirty="0"/>
          </a:p>
          <a:p>
            <a:pPr lvl="1"/>
            <a:r>
              <a:rPr lang="en-IN" sz="1200" b="1" dirty="0"/>
              <a:t>UI/UX Design:</a:t>
            </a:r>
            <a:r>
              <a:rPr lang="en-IN" sz="1200" dirty="0"/>
              <a:t> Creating a user-centric interface using </a:t>
            </a:r>
            <a:r>
              <a:rPr lang="en-IN" sz="1200" b="1" dirty="0"/>
              <a:t>Material-UI</a:t>
            </a:r>
            <a:r>
              <a:rPr lang="en-IN" sz="1200" dirty="0"/>
              <a:t> focused on "Flow Theory" to balance challenge and skill.</a:t>
            </a:r>
          </a:p>
          <a:p>
            <a:pPr lvl="1"/>
            <a:r>
              <a:rPr lang="en-IN" sz="1200" b="1" dirty="0"/>
              <a:t>Architecture Mapping:</a:t>
            </a:r>
            <a:r>
              <a:rPr lang="en-IN" sz="1200" dirty="0"/>
              <a:t> Designing the </a:t>
            </a:r>
            <a:r>
              <a:rPr lang="en-IN" sz="1200" b="1" dirty="0"/>
              <a:t>Modular Backend</a:t>
            </a:r>
            <a:r>
              <a:rPr lang="en-IN" sz="1200" dirty="0"/>
              <a:t> to separate business logic (Lesson Engine) from the AI Tutor module.</a:t>
            </a:r>
          </a:p>
          <a:p>
            <a:pPr lvl="1"/>
            <a:r>
              <a:rPr lang="en-IN" sz="1200" b="1" dirty="0"/>
              <a:t>Database Schema:</a:t>
            </a:r>
            <a:r>
              <a:rPr lang="en-IN" sz="1200" dirty="0"/>
              <a:t> Structuring MongoDB/SQL to track granular progress (time spent per question, mistake patterns).</a:t>
            </a:r>
          </a:p>
          <a:p>
            <a:r>
              <a:rPr lang="en-IN" sz="1400" b="1" dirty="0"/>
              <a:t>Phase 3: Development &amp; AI Integration</a:t>
            </a:r>
            <a:endParaRPr lang="en-IN" sz="1400" dirty="0"/>
          </a:p>
          <a:p>
            <a:pPr lvl="1"/>
            <a:r>
              <a:rPr lang="en-IN" sz="1200" b="1" dirty="0"/>
              <a:t>Frontend Engineering:</a:t>
            </a:r>
            <a:r>
              <a:rPr lang="en-IN" sz="1200" dirty="0"/>
              <a:t> Implementing the dashboard and interactive quizzes using </a:t>
            </a:r>
            <a:r>
              <a:rPr lang="en-IN" sz="1200" b="1" dirty="0"/>
              <a:t>React.js and TypeScript</a:t>
            </a:r>
            <a:r>
              <a:rPr lang="en-IN" sz="1200" dirty="0"/>
              <a:t>.</a:t>
            </a:r>
          </a:p>
          <a:p>
            <a:pPr lvl="1"/>
            <a:r>
              <a:rPr lang="en-IN" sz="1200" b="1" dirty="0"/>
              <a:t>AI Tutor Module:</a:t>
            </a:r>
            <a:r>
              <a:rPr lang="en-IN" sz="1200" dirty="0"/>
              <a:t> Integrating Natural Language Processing (NLP) models to provide conceptual guidance rather than just answers.</a:t>
            </a:r>
          </a:p>
          <a:p>
            <a:pPr lvl="1"/>
            <a:r>
              <a:rPr lang="en-IN" sz="1200" b="1" dirty="0"/>
              <a:t>API Development:</a:t>
            </a:r>
            <a:r>
              <a:rPr lang="en-IN" sz="1200" dirty="0"/>
              <a:t> Building RESTful services with </a:t>
            </a:r>
            <a:r>
              <a:rPr lang="en-IN" sz="1200" b="1" dirty="0"/>
              <a:t>Node.js and Express.js</a:t>
            </a:r>
            <a:r>
              <a:rPr lang="en-IN" sz="1200" dirty="0"/>
              <a:t> for secure authentication and data sync.</a:t>
            </a:r>
          </a:p>
        </p:txBody>
      </p:sp>
    </p:spTree>
    <p:extLst>
      <p:ext uri="{BB962C8B-B14F-4D97-AF65-F5344CB8AC3E}">
        <p14:creationId xmlns:p14="http://schemas.microsoft.com/office/powerpoint/2010/main" val="2419098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3EA239C-2D22-3180-EB7A-7B36E82AEF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9100" y="1905000"/>
            <a:ext cx="83058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Phase 4: Testing &amp; Quality Assurance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Logic Verification: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Ensuring the "Adaptive Path" correctly identifies when a student is ready to move to a higher 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Cross-Device Testing: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Validating responsive performance across mobile, tablet, and desktop browsers.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 Feedback Loop: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Pilot testing with students to refine the difficulty curve and gamification rewards.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Phase 5: Deployment &amp; Maintenance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Hosting: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Deploying the web-based platform for public/institutional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Continuous Optimization: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Monitoring analytics to identify "exit points" where students get stuck and updating AI models accordingly.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71071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100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1" dirty="0"/>
              <a:t>Hardware Requirements</a:t>
            </a:r>
          </a:p>
          <a:p>
            <a:r>
              <a:rPr lang="en-IN" b="1" dirty="0"/>
              <a:t>Processor:</a:t>
            </a:r>
            <a:r>
              <a:rPr lang="en-IN" dirty="0"/>
              <a:t> Intel Core i5 or higher for efficient AI processing.</a:t>
            </a:r>
          </a:p>
          <a:p>
            <a:r>
              <a:rPr lang="en-IN" b="1" dirty="0"/>
              <a:t>Memory:</a:t>
            </a:r>
            <a:r>
              <a:rPr lang="en-IN" dirty="0"/>
              <a:t> Minimum 8 GB RAM to ensure smooth multi-tasking and execution.</a:t>
            </a:r>
          </a:p>
          <a:p>
            <a:r>
              <a:rPr lang="en-IN" b="1" dirty="0"/>
              <a:t>Storage:</a:t>
            </a:r>
            <a:r>
              <a:rPr lang="en-IN" dirty="0"/>
              <a:t> 256 GB SSD or HDD for project files and dependencies.</a:t>
            </a:r>
          </a:p>
          <a:p>
            <a:r>
              <a:rPr lang="en-IN" b="1" dirty="0"/>
              <a:t>Display &amp; Input:</a:t>
            </a:r>
            <a:r>
              <a:rPr lang="en-IN" dirty="0"/>
              <a:t> 1366 × 768 minimum resolution with standard keyboard/mouse interaction.</a:t>
            </a:r>
          </a:p>
          <a:p>
            <a:r>
              <a:rPr lang="en-IN" b="1" dirty="0"/>
              <a:t>Connectivity:</a:t>
            </a:r>
            <a:r>
              <a:rPr lang="en-IN" dirty="0"/>
              <a:t> Stable internet access for real-time API communication and AI tutoring.</a:t>
            </a:r>
          </a:p>
          <a:p>
            <a:r>
              <a:rPr lang="en-IN" b="1" dirty="0"/>
              <a:t>Mobile Testing:</a:t>
            </a:r>
            <a:r>
              <a:rPr lang="en-IN" dirty="0"/>
              <a:t> Android or iOS devices for responsive design verification.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Software &amp; Development Stack</a:t>
            </a:r>
          </a:p>
          <a:p>
            <a:r>
              <a:rPr lang="en-IN" b="1" dirty="0"/>
              <a:t>Frontend Framework:</a:t>
            </a:r>
            <a:r>
              <a:rPr lang="en-IN" dirty="0"/>
              <a:t> </a:t>
            </a:r>
            <a:r>
              <a:rPr lang="en-IN" b="1" dirty="0"/>
              <a:t>React.js</a:t>
            </a:r>
            <a:r>
              <a:rPr lang="en-IN" dirty="0"/>
              <a:t> with </a:t>
            </a:r>
            <a:r>
              <a:rPr lang="en-IN" b="1" dirty="0"/>
              <a:t>TypeScript</a:t>
            </a:r>
            <a:r>
              <a:rPr lang="en-IN" dirty="0"/>
              <a:t> for reliable, component-based UI.</a:t>
            </a:r>
          </a:p>
          <a:p>
            <a:r>
              <a:rPr lang="en-IN" b="1" dirty="0"/>
              <a:t>UI &amp; Experience:</a:t>
            </a:r>
            <a:r>
              <a:rPr lang="en-IN" dirty="0"/>
              <a:t> </a:t>
            </a:r>
            <a:r>
              <a:rPr lang="en-IN" b="1" dirty="0"/>
              <a:t>Material-UI</a:t>
            </a:r>
            <a:r>
              <a:rPr lang="en-IN" dirty="0"/>
              <a:t> (design system) and </a:t>
            </a:r>
            <a:r>
              <a:rPr lang="en-IN" b="1" dirty="0"/>
              <a:t>Framer Motion</a:t>
            </a:r>
            <a:r>
              <a:rPr lang="en-IN" dirty="0"/>
              <a:t> (smooth animations).</a:t>
            </a:r>
          </a:p>
          <a:p>
            <a:r>
              <a:rPr lang="en-IN" b="1" dirty="0"/>
              <a:t>Backend Services:</a:t>
            </a:r>
            <a:r>
              <a:rPr lang="en-IN" dirty="0"/>
              <a:t> </a:t>
            </a:r>
            <a:r>
              <a:rPr lang="en-IN" b="1" dirty="0"/>
              <a:t>Node.js</a:t>
            </a:r>
            <a:r>
              <a:rPr lang="en-IN" dirty="0"/>
              <a:t> runtime with </a:t>
            </a:r>
            <a:r>
              <a:rPr lang="en-IN" b="1" dirty="0"/>
              <a:t>Express.js</a:t>
            </a:r>
            <a:r>
              <a:rPr lang="en-IN" dirty="0"/>
              <a:t> for building RESTful APIs.</a:t>
            </a:r>
          </a:p>
          <a:p>
            <a:r>
              <a:rPr lang="en-IN" b="1" dirty="0"/>
              <a:t>Data Visualization:</a:t>
            </a:r>
            <a:r>
              <a:rPr lang="en-IN" dirty="0"/>
              <a:t> </a:t>
            </a:r>
            <a:r>
              <a:rPr lang="en-IN" b="1" dirty="0"/>
              <a:t>Recharts</a:t>
            </a:r>
            <a:r>
              <a:rPr lang="en-IN" dirty="0"/>
              <a:t> for generating interactive progress analytics.</a:t>
            </a:r>
          </a:p>
          <a:p>
            <a:r>
              <a:rPr lang="en-IN" b="1" dirty="0"/>
              <a:t>Development Environment:</a:t>
            </a:r>
            <a:r>
              <a:rPr lang="en-IN" dirty="0"/>
              <a:t> </a:t>
            </a:r>
            <a:r>
              <a:rPr lang="en-IN" b="1" dirty="0"/>
              <a:t>Visual Studio Code</a:t>
            </a:r>
            <a:r>
              <a:rPr lang="en-IN" dirty="0"/>
              <a:t> as the primary IDE.</a:t>
            </a:r>
          </a:p>
          <a:p>
            <a:r>
              <a:rPr lang="en-IN" b="1" dirty="0"/>
              <a:t>Version Control:</a:t>
            </a:r>
            <a:r>
              <a:rPr lang="en-IN" dirty="0"/>
              <a:t> </a:t>
            </a:r>
            <a:r>
              <a:rPr lang="en-IN" b="1" dirty="0"/>
              <a:t>Git and GitHub</a:t>
            </a:r>
            <a:r>
              <a:rPr lang="en-IN" dirty="0"/>
              <a:t> for collaboration and code management.</a:t>
            </a:r>
          </a:p>
          <a:p>
            <a:r>
              <a:rPr lang="en-IN" b="1" dirty="0"/>
              <a:t>Platforms:</a:t>
            </a:r>
            <a:r>
              <a:rPr lang="en-IN" dirty="0"/>
              <a:t> Windows, Linux, or macOS using modern browsers (Chrome, Edge, Firefox).</a:t>
            </a:r>
          </a:p>
        </p:txBody>
      </p:sp>
    </p:spTree>
    <p:extLst>
      <p:ext uri="{BB962C8B-B14F-4D97-AF65-F5344CB8AC3E}">
        <p14:creationId xmlns:p14="http://schemas.microsoft.com/office/powerpoint/2010/main" val="1664868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761B6D-DE84-F5E0-C1AD-91D629E16D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5245" y="1066800"/>
            <a:ext cx="8229600" cy="4592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Architecture &amp; Workflow</a:t>
            </a:r>
            <a:endParaRPr lang="en-US" sz="2000" dirty="0"/>
          </a:p>
          <a:p>
            <a:pPr lvl="1"/>
            <a:r>
              <a:rPr lang="en-US" sz="1800" b="1" dirty="0"/>
              <a:t>Client-Server Model:</a:t>
            </a:r>
            <a:r>
              <a:rPr lang="en-US" sz="1800" dirty="0"/>
              <a:t> Frontend manages interaction; Backend handles data and logic.</a:t>
            </a:r>
          </a:p>
          <a:p>
            <a:pPr lvl="1"/>
            <a:r>
              <a:rPr lang="en-US" sz="1800" b="1" dirty="0"/>
              <a:t>Onboarding:</a:t>
            </a:r>
            <a:r>
              <a:rPr lang="en-US" sz="1800" dirty="0"/>
              <a:t> Secure login followed by personalized topic and difficulty selection.</a:t>
            </a:r>
          </a:p>
          <a:p>
            <a:pPr lvl="1"/>
            <a:r>
              <a:rPr lang="en-US" sz="1800" b="1" dirty="0"/>
              <a:t>Adaptive Learning:</a:t>
            </a:r>
            <a:r>
              <a:rPr lang="en-US" sz="1800" dirty="0"/>
              <a:t> Real-time updates to XP, streaks, and progress as lessons are completed.</a:t>
            </a:r>
          </a:p>
          <a:p>
            <a:pPr lvl="1"/>
            <a:r>
              <a:rPr lang="en-US" sz="1800" b="1" dirty="0"/>
              <a:t>AI Integration:</a:t>
            </a:r>
            <a:r>
              <a:rPr lang="en-US" sz="1800" dirty="0"/>
              <a:t> Continuous conversational support via the AI Tutor module.</a:t>
            </a:r>
          </a:p>
          <a:p>
            <a:r>
              <a:rPr lang="en-US" sz="2000" b="1" dirty="0"/>
              <a:t>Core Modules</a:t>
            </a:r>
            <a:endParaRPr lang="en-US" sz="2000" dirty="0"/>
          </a:p>
          <a:p>
            <a:pPr lvl="1"/>
            <a:r>
              <a:rPr lang="en-US" sz="1800" b="1" dirty="0"/>
              <a:t>User &amp; Access:</a:t>
            </a:r>
            <a:r>
              <a:rPr lang="en-US" sz="1800" dirty="0"/>
              <a:t> Authentication and Profile Management.</a:t>
            </a:r>
          </a:p>
          <a:p>
            <a:pPr lvl="1"/>
            <a:r>
              <a:rPr lang="en-US" sz="1800" b="1" dirty="0"/>
              <a:t>Content Delivery:</a:t>
            </a:r>
            <a:r>
              <a:rPr lang="en-US" sz="1800" dirty="0"/>
              <a:t> Learning Path, Lesson, and Quiz modules.</a:t>
            </a:r>
          </a:p>
          <a:p>
            <a:pPr lvl="1"/>
            <a:r>
              <a:rPr lang="en-US" sz="1800" b="1" dirty="0"/>
              <a:t>Intelligence:</a:t>
            </a:r>
            <a:r>
              <a:rPr lang="en-US" sz="1800" dirty="0"/>
              <a:t> AI Tutor for real-time conceptual guidance.</a:t>
            </a:r>
          </a:p>
          <a:p>
            <a:pPr lvl="1"/>
            <a:r>
              <a:rPr lang="en-US" sz="1800" b="1" dirty="0"/>
              <a:t>Engagement:</a:t>
            </a:r>
            <a:r>
              <a:rPr lang="en-US" sz="1800" dirty="0"/>
              <a:t> Gamification Engine (XP, Streaks, Badges).</a:t>
            </a:r>
          </a:p>
          <a:p>
            <a:pPr lvl="1"/>
            <a:r>
              <a:rPr lang="en-US" sz="1800" b="1" dirty="0"/>
              <a:t>Insights:</a:t>
            </a:r>
            <a:r>
              <a:rPr lang="en-US" sz="1800" dirty="0"/>
              <a:t> Statistics and Analytics Dashboards.</a:t>
            </a:r>
          </a:p>
        </p:txBody>
      </p:sp>
    </p:spTree>
    <p:extLst>
      <p:ext uri="{BB962C8B-B14F-4D97-AF65-F5344CB8AC3E}">
        <p14:creationId xmlns:p14="http://schemas.microsoft.com/office/powerpoint/2010/main" val="756487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&amp;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400" b="1" dirty="0"/>
              <a:t>Advantages</a:t>
            </a:r>
            <a:endParaRPr lang="en-US" sz="1400" dirty="0"/>
          </a:p>
          <a:p>
            <a:r>
              <a:rPr lang="en-US" sz="1400" b="1" dirty="0"/>
              <a:t>High Engagement &amp; Consistency:</a:t>
            </a:r>
            <a:r>
              <a:rPr lang="en-US" sz="1400" dirty="0"/>
              <a:t> By using "Duolingo-style" gamification (streaks, XP, badges), the platform transforms repetitive math practice into a rewarding habit, reducing student burnout.</a:t>
            </a:r>
          </a:p>
          <a:p>
            <a:r>
              <a:rPr lang="en-US" sz="1400" b="1" dirty="0"/>
              <a:t>Personalized Learning Speed:</a:t>
            </a:r>
            <a:r>
              <a:rPr lang="en-US" sz="1400" dirty="0"/>
              <a:t> The AI-driven adaptive paths ensure students aren't bored by easy content or overwhelmed by difficult topics, allowing for true self-paced mastery.</a:t>
            </a:r>
          </a:p>
          <a:p>
            <a:r>
              <a:rPr lang="en-US" sz="1400" b="1" dirty="0"/>
              <a:t>Instant Conceptual Support:</a:t>
            </a:r>
            <a:r>
              <a:rPr lang="en-US" sz="1400" dirty="0"/>
              <a:t> Unlike traditional textbooks, the integrated </a:t>
            </a:r>
            <a:r>
              <a:rPr lang="en-US" sz="1400" b="1" dirty="0"/>
              <a:t>AI Tutor</a:t>
            </a:r>
            <a:r>
              <a:rPr lang="en-US" sz="1400" dirty="0"/>
              <a:t> provides immediate, 24/7 explanations for mistakes, preventing students from getting stuck or discouraged.</a:t>
            </a:r>
          </a:p>
          <a:p>
            <a:r>
              <a:rPr lang="en-US" sz="1400" b="1" dirty="0"/>
              <a:t>Disadvantages</a:t>
            </a:r>
            <a:endParaRPr lang="en-US" sz="1400" dirty="0"/>
          </a:p>
          <a:p>
            <a:r>
              <a:rPr lang="en-US" sz="1400" b="1" dirty="0"/>
              <a:t>Dependency on Connectivity:</a:t>
            </a:r>
            <a:r>
              <a:rPr lang="en-US" sz="1400" dirty="0"/>
              <a:t> As a web-based platform relying on backend APIs and AI modules, it requires a stable internet connection, which may limit accessibility in remote areas.</a:t>
            </a:r>
          </a:p>
          <a:p>
            <a:r>
              <a:rPr lang="en-US" sz="1400" b="1" dirty="0"/>
              <a:t>AI Context Limitations:</a:t>
            </a:r>
            <a:r>
              <a:rPr lang="en-US" sz="1400" dirty="0"/>
              <a:t> While AI tutors are excellent for guidance, they may occasionally struggle with highly complex, multi-step creative proofs or nuances that a human teacher would catch instantly.</a:t>
            </a:r>
          </a:p>
          <a:p>
            <a:r>
              <a:rPr lang="en-US" sz="1400" b="1" dirty="0"/>
              <a:t>Technical Barrier to Entry:</a:t>
            </a:r>
            <a:r>
              <a:rPr lang="en-US" sz="1400" dirty="0"/>
              <a:t> The requirement for modern hardware (i5 processor, 8GB RAM) and specific software environments may be a hurdle for students using older, legacy devices or low-spec hardware.</a:t>
            </a:r>
          </a:p>
        </p:txBody>
      </p:sp>
    </p:spTree>
    <p:extLst>
      <p:ext uri="{BB962C8B-B14F-4D97-AF65-F5344CB8AC3E}">
        <p14:creationId xmlns:p14="http://schemas.microsoft.com/office/powerpoint/2010/main" val="2419098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F7453F-6945-2087-2FFA-E006C59118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143000"/>
            <a:ext cx="8229600" cy="487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Conclusion &amp; Key Achievements</a:t>
            </a:r>
          </a:p>
          <a:p>
            <a:r>
              <a:rPr lang="en-US" sz="1600" b="1" dirty="0"/>
              <a:t>Project Success</a:t>
            </a:r>
            <a:endParaRPr lang="en-US" sz="1600" dirty="0"/>
          </a:p>
          <a:p>
            <a:pPr lvl="1"/>
            <a:r>
              <a:rPr lang="en-US" sz="1400" dirty="0"/>
              <a:t>Successfully integrated </a:t>
            </a:r>
            <a:r>
              <a:rPr lang="en-US" sz="1400" b="1" dirty="0"/>
              <a:t>AI, gamification, and modern web tech</a:t>
            </a:r>
            <a:r>
              <a:rPr lang="en-US" sz="1400" dirty="0"/>
              <a:t> into a unified learning ecosystem.</a:t>
            </a:r>
          </a:p>
          <a:p>
            <a:pPr lvl="1"/>
            <a:r>
              <a:rPr lang="en-US" sz="1400" dirty="0"/>
              <a:t>Transformed traditional, repetitive math study into an </a:t>
            </a:r>
            <a:r>
              <a:rPr lang="en-US" sz="1400" b="1" dirty="0"/>
              <a:t>interactive and personalized experience.</a:t>
            </a:r>
            <a:endParaRPr lang="en-US" sz="1400" dirty="0"/>
          </a:p>
          <a:p>
            <a:r>
              <a:rPr lang="en-US" sz="1600" b="1" dirty="0"/>
              <a:t>Major Milestones</a:t>
            </a:r>
            <a:endParaRPr lang="en-US" sz="1600" dirty="0"/>
          </a:p>
          <a:p>
            <a:pPr lvl="1"/>
            <a:r>
              <a:rPr lang="en-US" sz="1400" b="1" dirty="0"/>
              <a:t>AI Tutor Implementation:</a:t>
            </a:r>
            <a:r>
              <a:rPr lang="en-US" sz="1400" dirty="0"/>
              <a:t> Provided successful real-time, conversational support and conceptual clarity.</a:t>
            </a:r>
          </a:p>
          <a:p>
            <a:pPr lvl="1"/>
            <a:r>
              <a:rPr lang="en-US" sz="1400" b="1" dirty="0"/>
              <a:t>Retention Mechanics:</a:t>
            </a:r>
            <a:r>
              <a:rPr lang="en-US" sz="1400" dirty="0"/>
              <a:t> Proven effectiveness of </a:t>
            </a:r>
            <a:r>
              <a:rPr lang="en-US" sz="1400" b="1" dirty="0"/>
              <a:t>XP, streaks, and badges</a:t>
            </a:r>
            <a:r>
              <a:rPr lang="en-US" sz="1400" dirty="0"/>
              <a:t> in maintaining student motivation.</a:t>
            </a:r>
          </a:p>
          <a:p>
            <a:pPr lvl="1"/>
            <a:r>
              <a:rPr lang="en-US" sz="1400" b="1" dirty="0"/>
              <a:t>Validated Performance:</a:t>
            </a:r>
            <a:r>
              <a:rPr lang="en-US" sz="1400" dirty="0"/>
              <a:t> Comprehensive testing confirmed seamless integration between the </a:t>
            </a:r>
            <a:r>
              <a:rPr lang="en-US" sz="1400" b="1" dirty="0"/>
              <a:t>React frontend</a:t>
            </a:r>
            <a:r>
              <a:rPr lang="en-US" sz="1400" dirty="0"/>
              <a:t> and </a:t>
            </a:r>
            <a:r>
              <a:rPr lang="en-US" sz="1400" b="1" dirty="0"/>
              <a:t>Node.js backend.</a:t>
            </a:r>
            <a:endParaRPr lang="en-US" sz="1400" dirty="0"/>
          </a:p>
          <a:p>
            <a:r>
              <a:rPr lang="en-US" sz="1600" b="1" dirty="0"/>
              <a:t>Educational Impact</a:t>
            </a:r>
            <a:endParaRPr lang="en-US" sz="1600" dirty="0"/>
          </a:p>
          <a:p>
            <a:pPr lvl="1"/>
            <a:r>
              <a:rPr lang="en-US" sz="1400" b="1" dirty="0"/>
              <a:t>Adaptive Growth:</a:t>
            </a:r>
            <a:r>
              <a:rPr lang="en-US" sz="1400" dirty="0"/>
              <a:t> Enabled self-paced mastery through custom-tailored learning paths.</a:t>
            </a:r>
          </a:p>
          <a:p>
            <a:pPr lvl="1"/>
            <a:r>
              <a:rPr lang="en-US" sz="1400" b="1" dirty="0"/>
              <a:t>Data-Driven Insights:</a:t>
            </a:r>
            <a:r>
              <a:rPr lang="en-US" sz="1400" dirty="0"/>
              <a:t> Analytics dashboards provided clear, real-time visualization of student progress and strengths.</a:t>
            </a:r>
          </a:p>
          <a:p>
            <a:r>
              <a:rPr lang="en-US" sz="1600" b="1" dirty="0"/>
              <a:t>Future Vision</a:t>
            </a:r>
            <a:endParaRPr lang="en-US" sz="1600" dirty="0"/>
          </a:p>
          <a:p>
            <a:pPr lvl="1"/>
            <a:r>
              <a:rPr lang="en-US" sz="1400" dirty="0"/>
              <a:t>Establishes a robust foundation for </a:t>
            </a:r>
            <a:r>
              <a:rPr lang="en-US" sz="1400" b="1" dirty="0"/>
              <a:t>intelligent digital education.</a:t>
            </a:r>
            <a:endParaRPr lang="en-US" sz="1400" dirty="0"/>
          </a:p>
          <a:p>
            <a:pPr lvl="1"/>
            <a:r>
              <a:rPr lang="en-US" sz="1400" dirty="0"/>
              <a:t>Demonstrates how AI can bridge the gap between traditional teaching and modern student needs.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343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11793</TotalTime>
  <Words>2212</Words>
  <Application>Microsoft Office PowerPoint</Application>
  <PresentationFormat>On-screen Show (4:3)</PresentationFormat>
  <Paragraphs>247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Museo 300</vt:lpstr>
      <vt:lpstr>Times New Roman</vt:lpstr>
      <vt:lpstr>Office Theme</vt:lpstr>
      <vt:lpstr>MAJOR PROJECT PHASE -1</vt:lpstr>
      <vt:lpstr>ABSTRACT</vt:lpstr>
      <vt:lpstr>PROBLEM STATEMENT </vt:lpstr>
      <vt:lpstr>INTRODUCTION</vt:lpstr>
      <vt:lpstr>MOTIVATION</vt:lpstr>
      <vt:lpstr>EXISTING SYSTEM</vt:lpstr>
      <vt:lpstr>PROPOSED SYSTEM</vt:lpstr>
      <vt:lpstr>LITERATURE SURVEY</vt:lpstr>
      <vt:lpstr>LITERATURE SURVEY</vt:lpstr>
      <vt:lpstr>LITERATURE SURVEY</vt:lpstr>
      <vt:lpstr>METHODOLOGY </vt:lpstr>
      <vt:lpstr>METHODOLOGY</vt:lpstr>
      <vt:lpstr>SYSTEM SPECIFICATION</vt:lpstr>
      <vt:lpstr>SYSTEM DESIGN</vt:lpstr>
      <vt:lpstr>ADVANTAGES &amp; DISADVANTAGES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MONISH PV</cp:lastModifiedBy>
  <cp:revision>545</cp:revision>
  <dcterms:created xsi:type="dcterms:W3CDTF">2006-08-16T00:00:00Z</dcterms:created>
  <dcterms:modified xsi:type="dcterms:W3CDTF">2026-05-09T03:30:21Z</dcterms:modified>
</cp:coreProperties>
</file>